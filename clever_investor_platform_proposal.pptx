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645920"/>
            <a:ext cx="1645920" cy="11887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280160"/>
            <a:ext cx="1463040" cy="45720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5160" y="1783080"/>
            <a:ext cx="411480" cy="365760"/>
          </a:xfrm>
          <a:prstGeom prst="rect">
            <a:avLst/>
          </a:prstGeom>
          <a:solidFill>
            <a:srgbClr val="D6E8FB"/>
          </a:solidFill>
          <a:ln w="12700">
            <a:solidFill>
              <a:srgbClr val="D6E8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1783080"/>
            <a:ext cx="411480" cy="365760"/>
          </a:xfrm>
          <a:prstGeom prst="rect">
            <a:avLst/>
          </a:prstGeom>
          <a:solidFill>
            <a:srgbClr val="D6E8FB"/>
          </a:solidFill>
          <a:ln w="12700">
            <a:solidFill>
              <a:srgbClr val="D6E8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2331720"/>
            <a:ext cx="5029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Clever Investor Platform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6E8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Org Proposal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Luke Babich &amp; Ben Mizes · March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Raghavan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proposal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389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Clever Offers is today — what mystery shopping revealed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402336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UX gaps, structural conflict of interest, competitive benchmarks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402336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584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Investor Platform could be — and why it's the right bet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1389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Scrappiest path to validation, consumer experience, data schema +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029968"/>
            <a:ext cx="402336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Resources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constraints, what to protect, how to staff and sequence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127248"/>
            <a:ext cx="402336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3584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want to explore with you in this session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assumptions &amp; how I prepared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743200" cy="329184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shopped cleveroffers.com end-to-end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4140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with 2 Clever-connected agents (Luke Smith, Jacob Mkhitarian) — 17 and 12 min calls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980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shopped InvestorLift and HomeLight Simple Sale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Luke's async answers on team structure, growth signals, and investor relationships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417320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4173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assuming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5576" y="1847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market research exists — hypothesis is grounded in empirical testing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65576" y="24140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timelines of 4–12 weeks are realistic, not optimistic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65576" y="2980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is P1 and fully protected — no pull from that team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65576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hiring cost assumed by role type (PM ~$160K, Eng ~$180K, fully loaded)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enterprise fire drills are unpredictable — I've treated that team as unavailable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4496" y="1417320"/>
            <a:ext cx="2743200" cy="329184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4173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still want to know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4224" y="1847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CVR from submit → investor offer accepted (current baseline)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64224" y="24140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pod owns the scrappy investor-matching POC today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64224" y="2980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investor relationships have yielded repeat transactions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— CURRENT STATE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seller experience actually looks like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08760"/>
            <a:ext cx="1280160" cy="777240"/>
          </a:xfrm>
          <a:prstGeom prst="rect">
            <a:avLst/>
          </a:prstGeom>
          <a:solidFill>
            <a:srgbClr val="EBF5FF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581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3192" y="185623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→ See Cash Offers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00200" y="1856232"/>
            <a:ext cx="164592" cy="8229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508760"/>
            <a:ext cx="1280160" cy="777240"/>
          </a:xfrm>
          <a:prstGeom prst="rect">
            <a:avLst/>
          </a:prstGeom>
          <a:solidFill>
            <a:srgbClr val="EBF5FF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581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+ address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56232" y="185623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friction, clean UX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63240" y="1856232"/>
            <a:ext cx="164592" cy="8229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508760"/>
            <a:ext cx="1280160" cy="777240"/>
          </a:xfrm>
          <a:prstGeom prst="rect">
            <a:avLst/>
          </a:prstGeom>
          <a:solidFill>
            <a:srgbClr val="FEF3E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581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gate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9272" y="185623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Name/email/phone required before anything shown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26280" y="1856232"/>
            <a:ext cx="164592" cy="8229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508760"/>
            <a:ext cx="1280160" cy="777240"/>
          </a:xfrm>
          <a:prstGeom prst="rect">
            <a:avLst/>
          </a:prstGeom>
          <a:solidFill>
            <a:srgbClr val="FEF3E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581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"Offers on the way"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82312" y="185623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timeline. No dashboard. No status.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1856232"/>
            <a:ext cx="164592" cy="8229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508760"/>
            <a:ext cx="1280160" cy="777240"/>
          </a:xfrm>
          <a:prstGeom prst="rect">
            <a:avLst/>
          </a:prstGeom>
          <a:solidFill>
            <a:srgbClr val="FEF3E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581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45352" y="185623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investors. No context. No account.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52360" y="1856232"/>
            <a:ext cx="164592" cy="8229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1508760"/>
            <a:ext cx="1280160" cy="777240"/>
          </a:xfrm>
          <a:prstGeom prst="rect">
            <a:avLst/>
          </a:prstGeom>
          <a:solidFill>
            <a:srgbClr val="FEF3E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08392" y="158191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visit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08392" y="1856232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any investor sees property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2450592"/>
            <a:ext cx="1280160" cy="823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4871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Conversion chokepoint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4612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required before value shown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2450592"/>
            <a:ext cx="1280160" cy="823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4871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Dead zone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916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persistence. No seller account.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72200" y="2450592"/>
            <a:ext cx="1280160" cy="823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4871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Channel conflict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722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incentive is to convert to listing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635240" y="2450592"/>
            <a:ext cx="1280160" cy="823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24871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Visit bottleneck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352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1–2 weeks before investor sees property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3200400"/>
            <a:ext cx="8503920" cy="868680"/>
          </a:xfrm>
          <a:prstGeom prst="rect">
            <a:avLst/>
          </a:prstGeom>
          <a:solidFill>
            <a:srgbClr val="FEF3EE"/>
          </a:solidFill>
          <a:ln w="9525">
            <a:solidFill>
              <a:srgbClr val="E05A1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200400"/>
            <a:ext cx="54864" cy="86868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 finding: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mystery-shopped agents spent the first 2 minutes on investor options, then 15+ minutes pitching traditional listings. The platform promises cash offers — sellers get agent calls, then silence. There is no Clever account to land on after submission.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has already solved pieces of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FEF3E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36576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17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Offers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470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CLEVER OWNS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20848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Trusted consumer brand (4.9★, 3,400+ reviews)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4688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18,000+ agent network, validated seller funnel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8529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30% of revenue — growing 250% YoY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32369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buy-box matching, no investor platform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6210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Experience ends at submission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4572000"/>
            <a:ext cx="2523744" cy="18288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45720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 — missing the backend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64408" y="1417320"/>
            <a:ext cx="2743200" cy="338328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1417320"/>
            <a:ext cx="27432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417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HomeLight Simple Sale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74136" y="18470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CONSUMER COMP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74136" y="20848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Named investor network surfaced to seller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74136" y="24688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Explicit investor vs. agent path choice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4136" y="28529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intake call feeds pricing model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74136" y="32369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in-person visit before investor sees property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74136" y="36210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Smaller agent network than Clever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74136" y="4572000"/>
            <a:ext cx="2523744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45720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consumer model — weaker network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08776" y="1417320"/>
            <a:ext cx="2743200" cy="338328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141732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1417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InvestorLift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18504" y="18470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INVESTOR-SIDE COMP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18504" y="20848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buy-box matching — investor sets criteria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18504" y="24688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5M+ investors, $30B+ offers made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18504" y="28529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deal scoring + in-app negotiation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18504" y="323697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marketplace visible before sign-up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18504" y="36210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B2B only — no consumer-safe experience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18504" y="4572000"/>
            <a:ext cx="252374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45720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matching intelligence — no B2C layer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7939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about a new product.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about building the intelligence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front-end already promises.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8483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already has what HomeLight and InvestorLift lack: a trusted consumer brand, a validated seller funnel, and 18,000 agents. The gaps are entirely on the investor side — no buy-box matching, no structured intake, no platform behind the promise. The Investor Platform closes that gap.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795528"/>
            <a:ext cx="502920" cy="502920"/>
          </a:xfrm>
          <a:prstGeom prst="ellipse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795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795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042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already owns the seller relationship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91072" y="1344168"/>
            <a:ext cx="7315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1488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148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HomeLight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2395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paths, named network, structured intake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91072" y="2697480"/>
            <a:ext cx="7315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5021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5021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InvestorLift intelligence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Buy-box matching, AI scoring, in-app negotiation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4023360"/>
            <a:ext cx="2834640" cy="82296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4133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Clever Investor Platform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4370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InvestorLift-style backend · Clever's consumer front-end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 — REC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 1: Replace the dead zone with a scheduling moment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2926080" cy="25603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what sellers receive today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"Cash offers are on the way!" — no timeline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1854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CX assigns agent (seller unaware)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5877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Unclear voicemail + cold text introduction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9900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Two agent intros, no context on who or why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3924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Clever account to land 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49040" y="1417320"/>
            <a:ext cx="2743200" cy="256032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seller-scheduled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Channel selection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0" y="1984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SMS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Quick-time chips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0" y="23865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 / 15 min / later today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2587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Date + time picker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2788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scheduling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Concierge pre-briefed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0" y="31912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sent ahead of call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3392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 created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3593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persistent identity layer</a:t>
            </a:r>
            <a:endParaRPr lang="en-US" sz="9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298448"/>
            <a:ext cx="2240280" cy="349300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583680" y="4828032"/>
            <a:ext cx="2240280" cy="18288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4828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Interact live: clever-concierge-scheduling.html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20040" y="4645152"/>
            <a:ext cx="850392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Experiment:  Control (cold outreach) vs. Test A (scheduled · phone only) vs. Test B (scheduled · channel choice) — primary metric: submit → concierge connection rate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 — REC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 2: Give sellers a place to land and a reason to engage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54864" cy="512064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home card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submitted date, property details — the seller sees their home, not a generic confirmation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075688"/>
            <a:ext cx="54864" cy="512064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progress tracker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→ Call scheduled → Explore options → Get offers → Decide. Seller always knows where they are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734056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34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snapshot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626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price, avg DOM, list-to-sale ratio for their zip. Educates before the concierge call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392424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92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path comparison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offer vs. open market — side-by-side with local estimates. Seller selects preference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050792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507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module → agent brief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279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timeline, showing comfort, reason for selling. Selections generate a structured brief the concierge inherits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645152"/>
            <a:ext cx="4251960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187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645152"/>
            <a:ext cx="54864" cy="29260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63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not a feature — creates the first persistent Clever seller account. Every future feature lives here.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298448"/>
            <a:ext cx="4069080" cy="354787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754880" y="4882896"/>
            <a:ext cx="4069080" cy="18288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488289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Interact live: clever-seller-dashboard.html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a Clever Offers feature.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7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the account layer that makes Clever a platform.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Clever's business model ends at the referral across every product line. The post-submit account layer — seller identity, preferences, market context — has direct compounding value beyond Offers.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121408"/>
            <a:ext cx="4160520" cy="1234440"/>
          </a:xfrm>
          <a:prstGeom prst="rect">
            <a:avLst/>
          </a:prstGeom>
          <a:solidFill>
            <a:srgbClr val="0D1F3C"/>
          </a:solidFill>
          <a:ln w="9525">
            <a:solidFill>
              <a:srgbClr val="1877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121408"/>
            <a:ext cx="54864" cy="123444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128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Matching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preferences (timeline, priority, path) make every agent match warmer and more informed. Same data schema, same infrastructure — zero additional build required.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384048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90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0392" y="309067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lead → agent call with no context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2121408"/>
            <a:ext cx="4160520" cy="1234440"/>
          </a:xfrm>
          <a:prstGeom prst="rect">
            <a:avLst/>
          </a:prstGeom>
          <a:solidFill>
            <a:srgbClr val="0A1F1E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121408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128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Clever 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22402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CHANNEL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25054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account data — mortgage balance, timeline, reason for selling, financial priority — is mortgage pre-qualification signal. Raw leads become enriched pipeline for lender partners.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3054096"/>
            <a:ext cx="384048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90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85232" y="309067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contact passed to lender with no intent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4160520" cy="1234440"/>
          </a:xfrm>
          <a:prstGeom prst="rect">
            <a:avLst/>
          </a:prstGeom>
          <a:solidFill>
            <a:srgbClr val="160D2A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7472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66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Clever Title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06040" y="3593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seller who has a dashboard and a progress tracker is a natural place to introduce title and escrow mid-journey — at the Get Offers stage, not as a cold pitch at close.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407408"/>
            <a:ext cx="384048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4439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" y="444398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introduced at close — unfamiliar, cold, last minute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160520" cy="1234440"/>
          </a:xfrm>
          <a:prstGeom prst="rect">
            <a:avLst/>
          </a:prstGeom>
          <a:solidFill>
            <a:srgbClr val="0A1F12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474720"/>
            <a:ext cx="54864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566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Gravy / Lifecycle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3593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LOYALTY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3776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Gravy acquisition was about owning the pre-purchase journey. A seller dashboard is the same thesis applied to the sell side — Clever holding the relationship across the journey, not just at the transaction.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4407408"/>
            <a:ext cx="3840480" cy="7315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4439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85232" y="444398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exits after referral — no post-transaction relationship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 — INTELLIGENCE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preferences become structured data — LLM turns data into a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2743200" cy="2148840"/>
          </a:xfrm>
          <a:prstGeom prst="rect">
            <a:avLst/>
          </a:prstGeom>
          <a:solidFill>
            <a:srgbClr val="0D1F3C"/>
          </a:solidFill>
          <a:ln w="9525">
            <a:solidFill>
              <a:srgbClr val="1877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301752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1732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seller_profile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8105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seller_id · address · property_type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" y="21488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beds · baths · est_sqft · purchase_year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improvements[ ] · est_mortgage_balance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" y="28254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channel_preference · concierge_scheduled_at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1417320"/>
            <a:ext cx="2743200" cy="2148840"/>
          </a:xfrm>
          <a:prstGeom prst="rect">
            <a:avLst/>
          </a:prstGeom>
          <a:solidFill>
            <a:srgbClr val="0D1F3C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417320"/>
            <a:ext cx="27432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41732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seller_preferences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92424" y="18105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path_preference (investor | open_market | undecided)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92424" y="21488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primary_priority · ideal_timeline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92424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showing_comfort · reason_for_selling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92424" y="28254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path_card_clicks[ ] — behavioral signal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92424" y="316382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time_on_page · sections_viewed[ 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8776" y="1417320"/>
            <a:ext cx="2743200" cy="2148840"/>
          </a:xfrm>
          <a:prstGeom prst="rect">
            <a:avLst/>
          </a:prstGeom>
          <a:solidFill>
            <a:srgbClr val="0D1F3C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417320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141732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market_context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36792" y="18105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· median_sale_price · avg_days_on_market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36792" y="214884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list_to_sale_ratio · yoy_price_change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36792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investor_activity_score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36792" y="28254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comparable_cash_offer_range[ 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36792" y="316382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open_market_estimate_range[ 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639312"/>
            <a:ext cx="731520" cy="20116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36393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LLM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913632"/>
            <a:ext cx="850392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187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913632"/>
            <a:ext cx="54864" cy="100584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50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brief (LLM output):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2245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6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"Varun is a 3bd/3ba homeowner in Hidden Hills who purchased in 2021 and has made meaningful improvements (landscaping, garage office, patio). He's planning ahead for aging parents — no urgency. He leaned toward cash offers but listed sale price as his top priority, which is a tension worth surfacing early. Local market: median $1.42M, 57 DOM. Cash offer range: $980K–$1.15M vs. open market $1.35M–$1.48M. Lead with the price gap and let him decide."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639312"/>
            <a:ext cx="3749040" cy="237744"/>
          </a:xfrm>
          <a:prstGeom prst="rect">
            <a:avLst/>
          </a:prstGeom>
          <a:solidFill>
            <a:srgbClr val="0D1F3C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path_card_clicks[ ] — behavioral signal no CRM captures today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 — INVESTOR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scrappiest path to validating the investor matching hypothesis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2743200" cy="512064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4475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  ·  Loveable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intake + manual routing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collects property package via structured Loveable form (photos, details, timeline)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99008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platform routes to curated investor shortlist — no agent personal lists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355701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responses tracked in Airtable/Sheets (not yet version-controlled)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412394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metric: do structured packages generate more investor responses than ad-hoc agent outreach?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417320"/>
            <a:ext cx="274320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44475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4136" y="16642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  ·  +ANVIL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74136" y="20116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Buy-box matching + algorithmic routing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74136" y="24231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builds investor buy-box scoring — adjacent to existing match models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74136" y="299008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intake auto-routes to investors whose buy-box criteria match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74136" y="355701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 surfaces: 'X investors reviewing your home'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74136" y="412394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metric: does buy-box matching increase offer volume per submission?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1417320"/>
            <a:ext cx="274320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144475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18504" y="16642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5+  ·  Full build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18504" y="20116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offers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8504" y="24231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sees competing offers forming in real time — side by side with open market estimate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18504" y="299008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In-platform negotiation layer (vs. agent-mediated verbal relay)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355701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shifts from bottleneck → advisor: in the loop on offers, not generating them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18504" y="412394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metric: submit → offer acceptance rate vs. control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1877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817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7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Phase 1 and 2 require no tech allocation from AMP, ATLAS, or Agent HQ. Phase 3 requires ANVIL partial and a dedicated new pod.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protect, what to borrow, what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4160520" cy="960120"/>
          </a:xfrm>
          <a:prstGeom prst="rect">
            <a:avLst/>
          </a:prstGeom>
          <a:solidFill>
            <a:srgbClr val="ECFDF5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54864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00200" y="1527048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527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8196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fully staffed. Zero pull. This is the engine. Do not touch.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4160520" cy="960120"/>
          </a:xfrm>
          <a:prstGeom prst="rect">
            <a:avLst/>
          </a:prstGeom>
          <a:solidFill>
            <a:srgbClr val="ECFDF5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514600"/>
            <a:ext cx="54864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00200" y="2624328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624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" y="29169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stretched + enterprise fire drill risk. Unavailable for net-new work.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4160520" cy="960120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61188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703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HQ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00200" y="3721608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3721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" y="40142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Understaffed due to attrition. Fix the backfill first. Don't add scope.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160520" cy="960120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41732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ANVIL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1527048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527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ONLY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9472" y="18196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as intended Phase 2 partner for buy-box scoring — adjacent to existing match models. Not committed until capacity confirmed in live session. If unavailable, buy-box logic is an early engineering hire deliverable.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514600"/>
            <a:ext cx="416052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1877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514600"/>
            <a:ext cx="54864" cy="96012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35040" y="2624328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624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SPRINT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19472" y="29169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instrumentation for the A/B experiment only. One shared sprint with Ben's team.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11880"/>
            <a:ext cx="416052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1877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11880"/>
            <a:ext cx="54864" cy="96012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703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POD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35040" y="3721608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721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9472" y="40142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Mandate: Offers investor matching + post-submit account layer (cross-product). 1 PM, Month 1. Engineers gated on Phase 1 signal: 15%+ investor response lift OR 3 investor matches in 30 days. Reporting structure: open question for live session.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FEF3EE"/>
          </a:solidFill>
          <a:ln w="6350">
            <a:solidFill>
              <a:srgbClr val="E05A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817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requires zero pull from any existing pod — Loveable + dedicated PM only. Engineering gated on signal: 15%+ investor response lift OR 3 investor matches in 30 days. ANVIL capacity and new pod reporting structure are open questions for the live session.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call.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1: Ship the scheduling screen 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7393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Loveable-executable, requires no tech allocation, and directly fixes the highest-friction point in the current flow. It also creates the first seller account — the foundation for everything else.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2: Build the seller dashboard in parallel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7413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preference module generates the data schema. The LLM turns it into agent briefs. The A/B experiment runs itself. This is the concierge upgrade that makes warm handoffs systematic — not dependent on individual agent quality.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Phase 1 investor intake with Loveable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177393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agent personal-list blast with a structured property package and a platform-owned investor routing layer. No new tech team required for Month 1. Signal within 6–8 weeks.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Phase 2 on Phase 1 signal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37413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pull ANVIL and fund the new pod when Phase 1 shows offer volume improvement. Don't build the matching engine on a hypothesis — build it on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want to dig into with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1148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1732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54864" cy="1051560"/>
          </a:xfrm>
          <a:prstGeom prst="rect">
            <a:avLst/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150876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1877D9"/>
          </a:solidFill>
          <a:ln w="12700">
            <a:solidFill>
              <a:srgbClr val="187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scrappy POC investor-matching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it, what's been built, what's worked and what hasn't. I want to build on what exists, not past 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587752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587752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267919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679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679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the Phase 1 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structured intake + Loveable routing proposal fit the Offers team's actual capacity? What am I missing about current tribal knowledge dependencies?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758184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58184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384962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38496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849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ANVIL capacity + the Phase 2 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ANVIL available for Phase 2 buy-box scoring work, or does that need to be an early engineering hire? This changes how I'd sequence the pod build.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417320"/>
            <a:ext cx="5486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50876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pod reporting 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801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pod's mandate spans Offers + the cross-product account layer. Does it report to Ben (Growth/Offers today), directly to the CPO, or is there a better structure given how Clever is organized?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587752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587752"/>
            <a:ext cx="54864" cy="105156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2679192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2679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2679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tried and abandoned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2971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mentioned empirical testing. What didn't work on Offers? That signal is as valuable as what did.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758184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758184"/>
            <a:ext cx="54864" cy="1051560"/>
          </a:xfrm>
          <a:prstGeom prst="rect">
            <a:avLst/>
          </a:prstGeom>
          <a:solidFill>
            <a:srgbClr val="7A92B0"/>
          </a:solidFill>
          <a:ln w="12700">
            <a:solidFill>
              <a:srgbClr val="7A92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384962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7A92B0"/>
          </a:solidFill>
          <a:ln w="12700">
            <a:solidFill>
              <a:srgbClr val="7A92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38496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37760" y="3849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+ open curveballs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 wrong? What assumptions are off? What's the thing you're not sure I understand yet about how Clever actually works?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Clever Investor Platform — Product &amp; Org Proposal</dc:title>
  <dc:subject>PptxGenJS Presentation</dc:subject>
  <dc:creator>Varun Raghavan</dc:creator>
  <cp:lastModifiedBy>Varun Raghavan</cp:lastModifiedBy>
  <cp:revision>1</cp:revision>
  <dcterms:created xsi:type="dcterms:W3CDTF">2026-03-23T04:26:00Z</dcterms:created>
  <dcterms:modified xsi:type="dcterms:W3CDTF">2026-03-23T04:26:00Z</dcterms:modified>
</cp:coreProperties>
</file>