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877D9"/>
          </a:solidFill>
          <a:ln w="12700">
            <a:solidFill>
              <a:srgbClr val="1877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1645920"/>
            <a:ext cx="1645920" cy="1188720"/>
          </a:xfrm>
          <a:prstGeom prst="rect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9440" y="1280160"/>
            <a:ext cx="1463040" cy="457200"/>
          </a:xfrm>
          <a:prstGeom prst="rect">
            <a:avLst/>
          </a:prstGeom>
          <a:solidFill>
            <a:srgbClr val="1877D9"/>
          </a:solidFill>
          <a:ln w="12700">
            <a:solidFill>
              <a:srgbClr val="1877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95160" y="1783080"/>
            <a:ext cx="411480" cy="365760"/>
          </a:xfrm>
          <a:prstGeom prst="rect">
            <a:avLst/>
          </a:prstGeom>
          <a:solidFill>
            <a:srgbClr val="D6E8FB"/>
          </a:solidFill>
          <a:ln w="12700">
            <a:solidFill>
              <a:srgbClr val="D6E8F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09560" y="1783080"/>
            <a:ext cx="411480" cy="365760"/>
          </a:xfrm>
          <a:prstGeom prst="rect">
            <a:avLst/>
          </a:prstGeom>
          <a:solidFill>
            <a:srgbClr val="D6E8FB"/>
          </a:solidFill>
          <a:ln w="12700">
            <a:solidFill>
              <a:srgbClr val="D6E8F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06640" y="2331720"/>
            <a:ext cx="502920" cy="50292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0058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Clever Investor Platform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57200" y="17373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D6E8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 &amp; Org Proposal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57200" y="2331720"/>
            <a:ext cx="1097280" cy="41148"/>
          </a:xfrm>
          <a:prstGeom prst="rect">
            <a:avLst/>
          </a:prstGeom>
          <a:solidFill>
            <a:srgbClr val="1877D9"/>
          </a:solidFill>
          <a:ln w="12700">
            <a:solidFill>
              <a:srgbClr val="1877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514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Luke Babich &amp; Ben Mizes · March 2026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28346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Varun Raghavan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7091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400" kern="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this proposal covers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097280" cy="41148"/>
          </a:xfrm>
          <a:prstGeom prst="rect">
            <a:avLst/>
          </a:prstGeom>
          <a:solidFill>
            <a:srgbClr val="1877D9"/>
          </a:solidFill>
          <a:ln w="12700">
            <a:solidFill>
              <a:srgbClr val="1877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877D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51560" y="138988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51560" y="16459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Clever Offers is today — what mystery shopping revealed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029968"/>
            <a:ext cx="4023360" cy="7315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468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877D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51560" y="248716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51560" y="27432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UX gaps, structural conflict of interest, competitive benchmarks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127248"/>
            <a:ext cx="4023360" cy="7315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566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877D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051560" y="358444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Hypothesis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38404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Investor Platform could be — and why it's the right bet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920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877D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486400" y="138988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Proposal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0" y="16459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Scrappiest path to validation, consumer experience, data schema + AI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2040" y="2029968"/>
            <a:ext cx="4023360" cy="7315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92040" y="2468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877D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5486400" y="248716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 &amp; Resources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86400" y="27432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constraints, what to protect, how to staff and sequence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92040" y="3127248"/>
            <a:ext cx="4023360" cy="7315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92040" y="3566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877D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5486400" y="358444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86400" y="38404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I'd want to explore with you in this session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assumptions &amp; how I prepared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097280" cy="41148"/>
          </a:xfrm>
          <a:prstGeom prst="rect">
            <a:avLst/>
          </a:prstGeom>
          <a:solidFill>
            <a:srgbClr val="1877D9"/>
          </a:solidFill>
          <a:ln w="12700">
            <a:solidFill>
              <a:srgbClr val="1877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2743200" cy="329184"/>
          </a:xfrm>
          <a:prstGeom prst="rect">
            <a:avLst/>
          </a:prstGeom>
          <a:solidFill>
            <a:srgbClr val="1877D9"/>
          </a:solidFill>
          <a:ln w="12700">
            <a:solidFill>
              <a:srgbClr val="1877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17320"/>
            <a:ext cx="2523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did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84708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87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Mystery shopped cleveroffers.com end-to-end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241401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87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 with 2 Clever-connected agents (Luke Smith, Jacob Mkhitarian) — 17 and 12 min calls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2980944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87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Mystery shopped InvestorLift and HomeLight Simple Sale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66928" y="354787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87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Reviewed Luke's async answers on team structure, growth signals, and investor relationships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55848" y="1417320"/>
            <a:ext cx="2743200" cy="3291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65576" y="1417320"/>
            <a:ext cx="2523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I'm assuming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65576" y="184708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formal market research — the thesis is grounded in Clever's first-hand experience with sellers, investors, and agents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465576" y="241401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Hiring timelines of 4–12 weeks are realistic, not optimistic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465576" y="2980944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 is P1 and fully protected — no pull from that team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465576" y="354787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hiring cost assumed by role type (PM ~$160K, Eng ~$180K, fully loaded)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65576" y="41148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enterprise fire drills are unpredictable — I've treated that team as unavailable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54496" y="1417320"/>
            <a:ext cx="2743200" cy="329184"/>
          </a:xfrm>
          <a:prstGeom prst="rect">
            <a:avLst/>
          </a:prstGeom>
          <a:solidFill>
            <a:srgbClr val="E05A1E"/>
          </a:solidFill>
          <a:ln w="12700">
            <a:solidFill>
              <a:srgbClr val="E05A1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64224" y="1417320"/>
            <a:ext cx="2523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I'd still want to know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64224" y="184708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0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rate from submit → investor offer accepted (current baseline)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364224" y="241401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0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owns the early investor-matching work and what's been built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364224" y="2980944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0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any investor relationships have yielded repeat transactions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— CURRENT STATE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seller experience actually looks like today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097280" cy="41148"/>
          </a:xfrm>
          <a:prstGeom prst="rect">
            <a:avLst/>
          </a:prstGeom>
          <a:solidFill>
            <a:srgbClr val="1877D9"/>
          </a:solidFill>
          <a:ln w="12700">
            <a:solidFill>
              <a:srgbClr val="1877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508760"/>
            <a:ext cx="1280160" cy="777240"/>
          </a:xfrm>
          <a:prstGeom prst="rect">
            <a:avLst/>
          </a:prstGeom>
          <a:solidFill>
            <a:srgbClr val="EBF5FF"/>
          </a:solidFill>
          <a:ln w="12700">
            <a:solidFill>
              <a:srgbClr val="1877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93192" y="1581912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Homepage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93192" y="1856232"/>
            <a:ext cx="1133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 → See Cash Offers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1600200" y="1856232"/>
            <a:ext cx="164592" cy="82296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83080" y="1508760"/>
            <a:ext cx="1280160" cy="777240"/>
          </a:xfrm>
          <a:prstGeom prst="rect">
            <a:avLst/>
          </a:prstGeom>
          <a:solidFill>
            <a:srgbClr val="EBF5FF"/>
          </a:solidFill>
          <a:ln w="12700">
            <a:solidFill>
              <a:srgbClr val="1877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56232" y="1581912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+ address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856232" y="1856232"/>
            <a:ext cx="1133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friction, clean UX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063240" y="1856232"/>
            <a:ext cx="164592" cy="82296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46120" y="1508760"/>
            <a:ext cx="1280160" cy="777240"/>
          </a:xfrm>
          <a:prstGeom prst="rect">
            <a:avLst/>
          </a:prstGeom>
          <a:solidFill>
            <a:srgbClr val="FEF3EE"/>
          </a:solidFill>
          <a:ln w="12700">
            <a:solidFill>
              <a:srgbClr val="E05A1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9272" y="1581912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gate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319272" y="1856232"/>
            <a:ext cx="1133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Name/email/phone required before anything shown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526280" y="1856232"/>
            <a:ext cx="164592" cy="82296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09160" y="1508760"/>
            <a:ext cx="1280160" cy="777240"/>
          </a:xfrm>
          <a:prstGeom prst="rect">
            <a:avLst/>
          </a:prstGeom>
          <a:solidFill>
            <a:srgbClr val="FEF3EE"/>
          </a:solidFill>
          <a:ln w="12700">
            <a:solidFill>
              <a:srgbClr val="E05A1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82312" y="1581912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"Offers on the way"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782312" y="1856232"/>
            <a:ext cx="1133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timeline. No dashboard. No status.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89320" y="1856232"/>
            <a:ext cx="164592" cy="82296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72200" y="1508760"/>
            <a:ext cx="1280160" cy="777240"/>
          </a:xfrm>
          <a:prstGeom prst="rect">
            <a:avLst/>
          </a:prstGeom>
          <a:solidFill>
            <a:srgbClr val="FEF3EE"/>
          </a:solidFill>
          <a:ln w="12700">
            <a:solidFill>
              <a:srgbClr val="E05A1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45352" y="1581912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calls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245352" y="1856232"/>
            <a:ext cx="1133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investors. No context. No account.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452360" y="1856232"/>
            <a:ext cx="164592" cy="82296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35240" y="1508760"/>
            <a:ext cx="1280160" cy="777240"/>
          </a:xfrm>
          <a:prstGeom prst="rect">
            <a:avLst/>
          </a:prstGeom>
          <a:solidFill>
            <a:srgbClr val="FEF3EE"/>
          </a:solidFill>
          <a:ln w="12700">
            <a:solidFill>
              <a:srgbClr val="E05A1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08392" y="1581912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In-person visit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708392" y="1856232"/>
            <a:ext cx="1133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before any investor sees property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246120" y="2450592"/>
            <a:ext cx="1280160" cy="8230"/>
          </a:xfrm>
          <a:prstGeom prst="rect">
            <a:avLst/>
          </a:prstGeom>
          <a:solidFill>
            <a:srgbClr val="E05A1E"/>
          </a:solidFill>
          <a:ln w="12700">
            <a:solidFill>
              <a:srgbClr val="E05A1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46120" y="248716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0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Conversion chokepoint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246120" y="26974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required before value shown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2450592"/>
            <a:ext cx="1280160" cy="8230"/>
          </a:xfrm>
          <a:prstGeom prst="rect">
            <a:avLst/>
          </a:prstGeom>
          <a:solidFill>
            <a:srgbClr val="E05A1E"/>
          </a:solidFill>
          <a:ln w="12700">
            <a:solidFill>
              <a:srgbClr val="E05A1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09160" y="248716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0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Dead zone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709160" y="26974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persistence. No seller account.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72200" y="2450592"/>
            <a:ext cx="1280160" cy="8230"/>
          </a:xfrm>
          <a:prstGeom prst="rect">
            <a:avLst/>
          </a:prstGeom>
          <a:solidFill>
            <a:srgbClr val="E05A1E"/>
          </a:solidFill>
          <a:ln w="12700">
            <a:solidFill>
              <a:srgbClr val="E05A1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72200" y="248716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0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Channel conflict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172200" y="26974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incentive is to convert to listing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7635240" y="2450592"/>
            <a:ext cx="1280160" cy="8230"/>
          </a:xfrm>
          <a:prstGeom prst="rect">
            <a:avLst/>
          </a:prstGeom>
          <a:solidFill>
            <a:srgbClr val="E05A1E"/>
          </a:solidFill>
          <a:ln w="12700">
            <a:solidFill>
              <a:srgbClr val="E05A1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635240" y="248716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0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Visit bottleneck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7635240" y="26974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1–2 weeks before investor sees property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20040" y="3200400"/>
            <a:ext cx="8503920" cy="868680"/>
          </a:xfrm>
          <a:prstGeom prst="rect">
            <a:avLst/>
          </a:prstGeom>
          <a:solidFill>
            <a:srgbClr val="FEF3EE"/>
          </a:solidFill>
          <a:ln w="9525">
            <a:solidFill>
              <a:srgbClr val="E05A1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0040" y="3200400"/>
            <a:ext cx="54864" cy="868680"/>
          </a:xfrm>
          <a:prstGeom prst="rect">
            <a:avLst/>
          </a:prstGeom>
          <a:solidFill>
            <a:srgbClr val="E05A1E"/>
          </a:solidFill>
          <a:ln w="12700">
            <a:solidFill>
              <a:srgbClr val="E05A1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30352" y="32918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0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First-hand finding: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30352" y="35204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mystery-shopped agents spent the first 2 minutes on investor options, then 15+ minutes pitching traditional listings. The platform promises cash offers — sellers get agent calls, then silence. There is no Clever account to land on after submission.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CONTEXT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market has already solved pieces of this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097280" cy="41148"/>
          </a:xfrm>
          <a:prstGeom prst="rect">
            <a:avLst/>
          </a:prstGeom>
          <a:solidFill>
            <a:srgbClr val="1877D9"/>
          </a:solidFill>
          <a:ln w="12700">
            <a:solidFill>
              <a:srgbClr val="1877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417320"/>
            <a:ext cx="2743200" cy="3383280"/>
          </a:xfrm>
          <a:prstGeom prst="rect">
            <a:avLst/>
          </a:prstGeom>
          <a:solidFill>
            <a:srgbClr val="FEF3EE"/>
          </a:solidFill>
          <a:ln w="12700">
            <a:solidFill>
              <a:srgbClr val="E05A1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417320"/>
            <a:ext cx="2743200" cy="365760"/>
          </a:xfrm>
          <a:prstGeom prst="rect">
            <a:avLst/>
          </a:prstGeom>
          <a:solidFill>
            <a:srgbClr val="E05A1E"/>
          </a:solidFill>
          <a:ln w="12700">
            <a:solidFill>
              <a:srgbClr val="E05A1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1417320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Clever Offers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9768" y="1847088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E0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CLEVER OWNS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29768" y="2084832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Trusted consumer brand (4.9★, 3,400+ reviews)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29768" y="2468880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18,000+ agent network, validated seller funnel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29768" y="2852928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30% of revenue — growing 250% YoY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29768" y="3236976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No buy-box matching, no investor platform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29768" y="3621024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Experience ends at submission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29768" y="4572000"/>
            <a:ext cx="2523744" cy="182880"/>
          </a:xfrm>
          <a:prstGeom prst="rect">
            <a:avLst/>
          </a:prstGeom>
          <a:solidFill>
            <a:srgbClr val="E05A1E"/>
          </a:solidFill>
          <a:ln w="12700">
            <a:solidFill>
              <a:srgbClr val="E05A1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9768" y="457200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trust — missing the backend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264408" y="1417320"/>
            <a:ext cx="2743200" cy="3383280"/>
          </a:xfrm>
          <a:prstGeom prst="rect">
            <a:avLst/>
          </a:prstGeom>
          <a:solidFill>
            <a:srgbClr val="ECFDF5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64408" y="1417320"/>
            <a:ext cx="2743200" cy="3657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74136" y="1417320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HomeLight Simple Sale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374136" y="1847088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CONSUMER COMP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374136" y="2084832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Named investor network surfaced to seller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74136" y="2468880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Explicit investor vs. agent path choice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374136" y="2852928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Structured intake call feeds pricing model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374136" y="3236976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No in-person visit before investor sees property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374136" y="3621024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Smaller agent network than Clever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374136" y="4572000"/>
            <a:ext cx="2523744" cy="1828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74136" y="457200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consumer model — weaker network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208776" y="1417320"/>
            <a:ext cx="2743200" cy="3383280"/>
          </a:xfrm>
          <a:prstGeom prst="rect">
            <a:avLst/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08776" y="1417320"/>
            <a:ext cx="2743200" cy="3657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18504" y="1417320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InvestorLift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318504" y="1847088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INVESTOR-SIDE COMP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318504" y="2084832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AI buy-box matching — investor sets criteria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318504" y="2468880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5M+ investors, $30B+ offers made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318504" y="2852928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AI deal scoring + in-app negotiation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318504" y="3236976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Live marketplace visible before sign-up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318504" y="3621024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B2B only — no consumer-safe experience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318504" y="4572000"/>
            <a:ext cx="2523744" cy="182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18504" y="457200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matching intelligence — no B2C layer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4279392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877D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HYPOTHESIS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212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isn't about a new product.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896112"/>
            <a:ext cx="5212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877D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It's about building the intelligence layer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5212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877D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front-end already promises.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1097280" cy="41148"/>
          </a:xfrm>
          <a:prstGeom prst="rect">
            <a:avLst/>
          </a:prstGeom>
          <a:solidFill>
            <a:srgbClr val="1877D9"/>
          </a:solidFill>
          <a:ln w="12700">
            <a:solidFill>
              <a:srgbClr val="1877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084832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E8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Clever already has what HomeLight and InvestorLift lack: a trusted consumer brand, a validated seller funnel, and 18,000 agents. The gaps are entirely on the investor side — no buy-box matching, no structured intake, no platform behind the promise. The Investor Platform closes that gap.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126480" y="795528"/>
            <a:ext cx="502920" cy="502920"/>
          </a:xfrm>
          <a:prstGeom prst="ellipse">
            <a:avLst/>
          </a:prstGeom>
          <a:solidFill>
            <a:srgbClr val="1877D9"/>
          </a:solidFill>
          <a:ln w="12700">
            <a:solidFill>
              <a:srgbClr val="1877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26480" y="795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766560" y="795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trust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766560" y="1042416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Clever already owns the seller relationship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91072" y="1344168"/>
            <a:ext cx="7315" cy="685800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26480" y="2148840"/>
            <a:ext cx="502920" cy="5029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766560" y="21488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HomeLight model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766560" y="239572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paths, named network, structured intake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291072" y="2697480"/>
            <a:ext cx="7315" cy="685800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3502152"/>
            <a:ext cx="502920" cy="5029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6480" y="3502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766560" y="35021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InvestorLift intelligence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766560" y="37490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Buy-box matching, AI scoring, in-app negotiation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943600" y="4023360"/>
            <a:ext cx="2834640" cy="822960"/>
          </a:xfrm>
          <a:prstGeom prst="rect">
            <a:avLst/>
          </a:prstGeom>
          <a:solidFill>
            <a:srgbClr val="1877D9"/>
          </a:solidFill>
          <a:ln w="12700">
            <a:solidFill>
              <a:srgbClr val="1877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0" y="413308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Clever Investor Platform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035040" y="437083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E8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InvestorLift-style backend · Clever's consumer front-end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PROPOSAL — REC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 1: Replace the dead zone with a scheduling moment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097280" cy="41148"/>
          </a:xfrm>
          <a:prstGeom prst="rect">
            <a:avLst/>
          </a:prstGeom>
          <a:solidFill>
            <a:srgbClr val="1877D9"/>
          </a:solidFill>
          <a:ln w="12700">
            <a:solidFill>
              <a:srgbClr val="1877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417320"/>
            <a:ext cx="2926080" cy="256032"/>
          </a:xfrm>
          <a:prstGeom prst="rect">
            <a:avLst/>
          </a:prstGeom>
          <a:solidFill>
            <a:srgbClr val="E05A1E"/>
          </a:solidFill>
          <a:ln w="12700">
            <a:solidFill>
              <a:srgbClr val="E05A1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4173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— what sellers receive today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11480" y="178308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"Cash offers are on the way!" — no timeline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11480" y="2185416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CX assigns agent (seller unaware)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258775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Unclear voicemail + cold text introduction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11480" y="299008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Two agent intros, no context on who or why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11480" y="339242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No Clever account to land on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291840" y="2606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877D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3749040" y="1417320"/>
            <a:ext cx="2743200" cy="256032"/>
          </a:xfrm>
          <a:prstGeom prst="rect">
            <a:avLst/>
          </a:prstGeom>
          <a:solidFill>
            <a:srgbClr val="1877D9"/>
          </a:solidFill>
          <a:ln w="12700">
            <a:solidFill>
              <a:srgbClr val="1877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40480" y="141732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Proposed: seller-scheduled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840480" y="17830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87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Channel selection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840480" y="198424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or SMS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840480" y="218541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87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Quick-time chips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840480" y="2386584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 / 15 min / later today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840480" y="258775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87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Date + time picker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840480" y="278892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scheduling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840480" y="299008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87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Concierge pre-briefed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840480" y="3191256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Preferences sent ahead of call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40480" y="3392424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87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Account created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840480" y="359359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persistent identity layer</a:t>
            </a:r>
            <a:endParaRPr lang="en-US" sz="900" dirty="0"/>
          </a:p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0" y="1298448"/>
            <a:ext cx="2240280" cy="3493008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6583680" y="4828032"/>
            <a:ext cx="2240280" cy="182880"/>
          </a:xfrm>
          <a:prstGeom prst="rect">
            <a:avLst/>
          </a:prstGeom>
          <a:solidFill>
            <a:srgbClr val="1877D9"/>
          </a:solidFill>
          <a:ln w="12700">
            <a:solidFill>
              <a:srgbClr val="1877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583680" y="4828032"/>
            <a:ext cx="2240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  Interact live: clever-concierge-scheduling.html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320040" y="4645152"/>
            <a:ext cx="8503920" cy="310896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7200" y="466344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30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A/B Experiment:  Control (cold outreach) vs. Test A (scheduled · phone only) vs. Test B (scheduled · channel choice) — primary metric: submit → concierge connection rate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PROPOSAL — REC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 2: Give sellers a place to land and a reason to engage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097280" cy="41148"/>
          </a:xfrm>
          <a:prstGeom prst="rect">
            <a:avLst/>
          </a:prstGeom>
          <a:solidFill>
            <a:srgbClr val="1877D9"/>
          </a:solidFill>
          <a:ln w="12700">
            <a:solidFill>
              <a:srgbClr val="1877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417320"/>
            <a:ext cx="54864" cy="512064"/>
          </a:xfrm>
          <a:prstGeom prst="rect">
            <a:avLst/>
          </a:prstGeom>
          <a:solidFill>
            <a:srgbClr val="1877D9"/>
          </a:solidFill>
          <a:ln w="12700">
            <a:solidFill>
              <a:srgbClr val="1877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417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home card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Address, submitted date, property details — the seller sees their home, not a generic confirmation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2075688"/>
            <a:ext cx="54864" cy="512064"/>
          </a:xfrm>
          <a:prstGeom prst="rect">
            <a:avLst/>
          </a:prstGeom>
          <a:solidFill>
            <a:srgbClr val="1877D9"/>
          </a:solidFill>
          <a:ln w="12700">
            <a:solidFill>
              <a:srgbClr val="1877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07568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5-step progress tracker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02920" y="23042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→ Call scheduled → Explore options → Get offers → Decide. Seller always knows where they are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0040" y="2734056"/>
            <a:ext cx="54864" cy="5120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73405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market snapshot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02920" y="29626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price, avg DOM, list-to-sale ratio for their zip. Educates before the concierge call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0040" y="3392424"/>
            <a:ext cx="54864" cy="5120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3924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path comparison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02920" y="362102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offer vs. open market — side-by-side with local estimates. Seller selects preference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0040" y="4050792"/>
            <a:ext cx="54864" cy="51206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40507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 module → agent brief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2920" y="42793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Priority, timeline, showing comfort, reason for selling. Selections generate a structured brief the concierge inherits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0040" y="4645152"/>
            <a:ext cx="4251960" cy="292608"/>
          </a:xfrm>
          <a:prstGeom prst="rect">
            <a:avLst/>
          </a:prstGeom>
          <a:solidFill>
            <a:srgbClr val="EFF6FF"/>
          </a:solidFill>
          <a:ln w="6350">
            <a:solidFill>
              <a:srgbClr val="1877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" y="4645152"/>
            <a:ext cx="54864" cy="292608"/>
          </a:xfrm>
          <a:prstGeom prst="rect">
            <a:avLst/>
          </a:prstGeom>
          <a:solidFill>
            <a:srgbClr val="1877D9"/>
          </a:solidFill>
          <a:ln w="12700">
            <a:solidFill>
              <a:srgbClr val="1877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466344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87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Foundation, not a feature — creates the first persistent Clever seller account. Every future feature lives here.</a:t>
            </a:r>
            <a:endParaRPr lang="en-US" sz="9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754880" y="1298448"/>
            <a:ext cx="4069080" cy="3547872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4754880" y="4882896"/>
            <a:ext cx="4069080" cy="182880"/>
          </a:xfrm>
          <a:prstGeom prst="rect">
            <a:avLst/>
          </a:prstGeom>
          <a:solidFill>
            <a:srgbClr val="1877D9"/>
          </a:solidFill>
          <a:ln w="12700">
            <a:solidFill>
              <a:srgbClr val="1877D9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754880" y="4882896"/>
            <a:ext cx="4069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  Interact live: clever-seller-dashboard.html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CONTEXT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34747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isn't a Clever Offers feature.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859536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877D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It's the account layer that makes Clever a platform.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444752"/>
            <a:ext cx="1097280" cy="41148"/>
          </a:xfrm>
          <a:prstGeom prst="rect">
            <a:avLst/>
          </a:prstGeom>
          <a:solidFill>
            <a:srgbClr val="1877D9"/>
          </a:solidFill>
          <a:ln w="12700">
            <a:solidFill>
              <a:srgbClr val="1877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E8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Clever's business model ends at the referral across every product line. The post-submit account layer — seller identity, preferences, market context — has direct compounding value beyond Offers.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" y="2121408"/>
            <a:ext cx="4160520" cy="1234440"/>
          </a:xfrm>
          <a:prstGeom prst="rect">
            <a:avLst/>
          </a:prstGeom>
          <a:solidFill>
            <a:srgbClr val="0D1F3C"/>
          </a:solidFill>
          <a:ln w="9525">
            <a:solidFill>
              <a:srgbClr val="1877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2121408"/>
            <a:ext cx="54864" cy="1234440"/>
          </a:xfrm>
          <a:prstGeom prst="rect">
            <a:avLst/>
          </a:prstGeom>
          <a:solidFill>
            <a:srgbClr val="1877D9"/>
          </a:solidFill>
          <a:ln w="12700">
            <a:solidFill>
              <a:srgbClr val="1877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2128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 Matching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606040" y="22402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187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BUSINESS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02920" y="2505456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preferences (timeline, priority, path) make every agent match warmer and more informed. Same data schema, same infrastructure — zero additional build required.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" y="3054096"/>
            <a:ext cx="3840480" cy="7315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309067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0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Now: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50392" y="3090672"/>
            <a:ext cx="3493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lead → agent call with no context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754880" y="2121408"/>
            <a:ext cx="4160520" cy="1234440"/>
          </a:xfrm>
          <a:prstGeom prst="rect">
            <a:avLst/>
          </a:prstGeom>
          <a:solidFill>
            <a:srgbClr val="0A1F1E"/>
          </a:solidFill>
          <a:ln w="9525">
            <a:solidFill>
              <a:srgbClr val="0D948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54880" y="2121408"/>
            <a:ext cx="54864" cy="1234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37760" y="22128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Clever 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040880" y="22402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LENDER CHANNEL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937760" y="2505456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account data — mortgage balance, timeline, reason for selling, financial priority — is mortgage pre-qualification signal. Raw leads become enriched pipeline for lender partners.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937760" y="3054096"/>
            <a:ext cx="3840480" cy="7315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37760" y="309067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0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Now: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285232" y="3090672"/>
            <a:ext cx="3493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contact passed to lender with no intent data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20040" y="3474720"/>
            <a:ext cx="4160520" cy="1234440"/>
          </a:xfrm>
          <a:prstGeom prst="rect">
            <a:avLst/>
          </a:prstGeom>
          <a:solidFill>
            <a:srgbClr val="160D2A"/>
          </a:solidFill>
          <a:ln w="9525">
            <a:solidFill>
              <a:srgbClr val="7C3A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" y="3474720"/>
            <a:ext cx="54864" cy="12344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56616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Clever Title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606040" y="359359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SERVICES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02920" y="385876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seller who has a dashboard and a progress tracker is a natural place to introduce title and escrow mid-journey — at the Get Offers stage, not as a cold pitch at close.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02920" y="4407408"/>
            <a:ext cx="3840480" cy="7315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2920" y="4443984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0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Now: 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50392" y="4443984"/>
            <a:ext cx="3493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introduced at close — unfamiliar, cold, last minute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54880" y="3474720"/>
            <a:ext cx="4160520" cy="1234440"/>
          </a:xfrm>
          <a:prstGeom prst="rect">
            <a:avLst/>
          </a:prstGeom>
          <a:solidFill>
            <a:srgbClr val="0A1F12"/>
          </a:solidFill>
          <a:ln w="9525">
            <a:solidFill>
              <a:srgbClr val="16A34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54880" y="3474720"/>
            <a:ext cx="54864" cy="12344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7760" y="356616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Gravy / Lifecycle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040880" y="359359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LOYALTY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937760" y="385876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Gravy acquisition was about owning the pre-purchase journey. A seller dashboard is the same thesis applied to the sell side — Clever holding the relationship across the journey, not just at the transaction.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937760" y="4407408"/>
            <a:ext cx="3840480" cy="7315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937760" y="4443984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0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Now: 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285232" y="4443984"/>
            <a:ext cx="3493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Clever exits after referral — no post-transaction relationship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PROPOSAL — INTELLIGENCE LAYER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Seller preferences become structured data — LLM turns data into a brief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097280" cy="41148"/>
          </a:xfrm>
          <a:prstGeom prst="rect">
            <a:avLst/>
          </a:prstGeom>
          <a:solidFill>
            <a:srgbClr val="1877D9"/>
          </a:solidFill>
          <a:ln w="12700">
            <a:solidFill>
              <a:srgbClr val="1877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417320"/>
            <a:ext cx="2743200" cy="2148840"/>
          </a:xfrm>
          <a:prstGeom prst="rect">
            <a:avLst/>
          </a:prstGeom>
          <a:solidFill>
            <a:srgbClr val="0D1F3C"/>
          </a:solidFill>
          <a:ln w="9525">
            <a:solidFill>
              <a:srgbClr val="1877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417320"/>
            <a:ext cx="2743200" cy="301752"/>
          </a:xfrm>
          <a:prstGeom prst="rect">
            <a:avLst/>
          </a:prstGeom>
          <a:solidFill>
            <a:srgbClr val="1877D9"/>
          </a:solidFill>
          <a:ln w="12700">
            <a:solidFill>
              <a:srgbClr val="1877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1417320"/>
            <a:ext cx="252374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seller_profile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8056" y="1810512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E8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seller_id · address · property_type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48056" y="2148840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E8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beds · baths · est_sqft · purchase_year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48056" y="2487168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E8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improvements[ ] · est_mortgage_balance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48056" y="2825496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E8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channel_preference · concierge_scheduled_at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64408" y="1417320"/>
            <a:ext cx="2743200" cy="2148840"/>
          </a:xfrm>
          <a:prstGeom prst="rect">
            <a:avLst/>
          </a:prstGeom>
          <a:solidFill>
            <a:srgbClr val="0D1F3C"/>
          </a:solidFill>
          <a:ln w="9525">
            <a:solidFill>
              <a:srgbClr val="0D948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64408" y="1417320"/>
            <a:ext cx="2743200" cy="3017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4136" y="1417320"/>
            <a:ext cx="252374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seller_preferences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392424" y="1810512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E8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path_preference (investor | open_market | undecided)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392424" y="2148840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E8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primary_priority · ideal_timeline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92424" y="2487168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E8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showing_comfort · reason_for_selling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392424" y="2825496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E8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path_card_clicks[ ] — behavioral signal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392424" y="3163824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E8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time_on_page · sections_viewed[ ]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208776" y="1417320"/>
            <a:ext cx="2743200" cy="2148840"/>
          </a:xfrm>
          <a:prstGeom prst="rect">
            <a:avLst/>
          </a:prstGeom>
          <a:solidFill>
            <a:srgbClr val="0D1F3C"/>
          </a:solidFill>
          <a:ln w="9525">
            <a:solidFill>
              <a:srgbClr val="16A3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08776" y="1417320"/>
            <a:ext cx="2743200" cy="30175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18504" y="1417320"/>
            <a:ext cx="252374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market_context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336792" y="1810512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E8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zip · median_sale_price · avg_days_on_market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336792" y="2148840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E8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list_to_sale_ratio · yoy_price_change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336792" y="2487168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E8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investor_activity_score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36792" y="2825496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E8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comparable_cash_offer_range[ ]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336792" y="3163824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E8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open_market_estimate_range[ ]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206240" y="3639312"/>
            <a:ext cx="731520" cy="201168"/>
          </a:xfrm>
          <a:prstGeom prst="rect">
            <a:avLst/>
          </a:prstGeom>
          <a:solidFill>
            <a:srgbClr val="1877D9"/>
          </a:solidFill>
          <a:ln w="12700">
            <a:solidFill>
              <a:srgbClr val="1877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14800" y="363931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LLM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20040" y="3913632"/>
            <a:ext cx="8503920" cy="1005840"/>
          </a:xfrm>
          <a:prstGeom prst="rect">
            <a:avLst/>
          </a:prstGeom>
          <a:solidFill>
            <a:srgbClr val="0D1F3C"/>
          </a:solidFill>
          <a:ln w="9525">
            <a:solidFill>
              <a:srgbClr val="1877D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" y="3913632"/>
            <a:ext cx="54864" cy="1005840"/>
          </a:xfrm>
          <a:prstGeom prst="rect">
            <a:avLst/>
          </a:prstGeom>
          <a:solidFill>
            <a:srgbClr val="1877D9"/>
          </a:solidFill>
          <a:ln w="12700">
            <a:solidFill>
              <a:srgbClr val="1877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920" y="395020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87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brief (LLM output):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42245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D6E8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"Varun is a 3bd/3ba homeowner in Hidden Hills who purchased in 2021 and has made meaningful improvements (landscaping, garage office, patio). He's planning ahead for aging parents — no urgency. He leaned toward cash offers but listed sale price as his top priority, which is a tension worth surfacing early. Local market: median $1.42M, 57 DOM. Cash offer range: $980K–$1.15M vs. open market $1.35M–$1.48M. Lead with the price gap and let him decide."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20040" y="3639312"/>
            <a:ext cx="3749040" cy="237744"/>
          </a:xfrm>
          <a:prstGeom prst="rect">
            <a:avLst/>
          </a:prstGeom>
          <a:solidFill>
            <a:srgbClr val="0D1F3C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363931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path_card_clicks[ ] — behavioral signal no CRM captures today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PROPOSAL — INVESTOR PLATFORM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scrappiest path to validating the investor matching hypothesis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097280" cy="41148"/>
          </a:xfrm>
          <a:prstGeom prst="rect">
            <a:avLst/>
          </a:prstGeom>
          <a:solidFill>
            <a:srgbClr val="1877D9"/>
          </a:solidFill>
          <a:ln w="12700">
            <a:solidFill>
              <a:srgbClr val="1877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417320"/>
            <a:ext cx="2743200" cy="512064"/>
          </a:xfrm>
          <a:prstGeom prst="rect">
            <a:avLst/>
          </a:prstGeom>
          <a:solidFill>
            <a:srgbClr val="1877D9"/>
          </a:solidFill>
          <a:ln w="12700">
            <a:solidFill>
              <a:srgbClr val="1877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9768" y="1444752"/>
            <a:ext cx="2523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29768" y="1664208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1–2  ·  Loveable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29768" y="2011680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intake + manual routing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29768" y="2423160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87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collects property package via structured Loveable form (photos, details, timeline)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29768" y="2990088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87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Clever platform routes to curated investor shortlist — no agent personal lists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29768" y="3557016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87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responses tracked in Airtable/Sheets (not yet version-controlled)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29768" y="4123944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87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metric: do structured packages generate more investor responses than ad-hoc agent outreach?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64408" y="1417320"/>
            <a:ext cx="2743200" cy="5120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4136" y="1444752"/>
            <a:ext cx="2523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74136" y="1664208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3–4  ·  +ANVIL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374136" y="2011680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Buy-box matching + algorithmic routing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374136" y="2423160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ANVIL builds investor buy-box scoring — adjacent to existing match models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374136" y="2990088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intake auto-routes to investors whose buy-box criteria match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374136" y="3557016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dashboard surfaces: 'X investors reviewing your home'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374136" y="4123944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metric: does buy-box matching increase offer volume per submission?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208776" y="1417320"/>
            <a:ext cx="2743200" cy="51206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18504" y="1444752"/>
            <a:ext cx="2523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18504" y="1664208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5+  ·  Full build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318504" y="2011680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Competing offers dashboard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18504" y="2423160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sees competing offers forming in real time — side by side with open market estimate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318504" y="2990088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In-platform negotiation layer (vs. agent-mediated verbal relay)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318504" y="3557016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shifts from bottleneck → advisor: in the loop on offers, not generating them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318504" y="4123944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metric: submit → offer acceptance rate vs. control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20040" y="4663440"/>
            <a:ext cx="8503920" cy="274320"/>
          </a:xfrm>
          <a:prstGeom prst="rect">
            <a:avLst/>
          </a:prstGeom>
          <a:solidFill>
            <a:srgbClr val="EFF6FF"/>
          </a:solidFill>
          <a:ln w="6350">
            <a:solidFill>
              <a:srgbClr val="1877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4681728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87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constraint: Phase 1 and 2 require no tech allocation from AMP, ATLAS, or Agent HQ. Phase 3 requires ANVIL partial and a dedicated new pod.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ALLOCATION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to protect, what to borrow, what to build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097280" cy="41148"/>
          </a:xfrm>
          <a:prstGeom prst="rect">
            <a:avLst/>
          </a:prstGeom>
          <a:solidFill>
            <a:srgbClr val="1877D9"/>
          </a:solidFill>
          <a:ln w="12700">
            <a:solidFill>
              <a:srgbClr val="1877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417320"/>
            <a:ext cx="4160520" cy="960120"/>
          </a:xfrm>
          <a:prstGeom prst="rect">
            <a:avLst/>
          </a:prstGeom>
          <a:solidFill>
            <a:srgbClr val="ECFDF5"/>
          </a:solidFill>
          <a:ln w="6350">
            <a:solidFill>
              <a:srgbClr val="16A3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417320"/>
            <a:ext cx="54864" cy="9601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50876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600200" y="1527048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600200" y="152704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84632" y="1819656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— fully staffed. Zero pull. This is the engine. Do not touch.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0040" y="2514600"/>
            <a:ext cx="4160520" cy="960120"/>
          </a:xfrm>
          <a:prstGeom prst="rect">
            <a:avLst/>
          </a:prstGeom>
          <a:solidFill>
            <a:srgbClr val="ECFDF5"/>
          </a:solidFill>
          <a:ln w="6350">
            <a:solidFill>
              <a:srgbClr val="16A3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" y="2514600"/>
            <a:ext cx="54864" cy="9601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" y="260604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ATLAS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600200" y="2624328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600200" y="262432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84632" y="2916936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stretched + enterprise fire drill risk. Unavailable for net-new work.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3611880"/>
            <a:ext cx="4160520" cy="960120"/>
          </a:xfrm>
          <a:prstGeom prst="rect">
            <a:avLst/>
          </a:prstGeom>
          <a:solidFill>
            <a:srgbClr val="FFFBEB"/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" y="3611880"/>
            <a:ext cx="54864" cy="9601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370332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 HQ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600200" y="3721608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600200" y="37216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84632" y="4014216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Understaffed due to attrition. Fix the backfill first. Don't add scope.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754880" y="1417320"/>
            <a:ext cx="4160520" cy="960120"/>
          </a:xfrm>
          <a:prstGeom prst="rect">
            <a:avLst/>
          </a:prstGeom>
          <a:solidFill>
            <a:srgbClr val="F0FDFA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54880" y="1417320"/>
            <a:ext cx="54864" cy="9601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19472" y="150876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ANVIL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035040" y="1527048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35040" y="152704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ONLY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919472" y="1819656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as intended Phase 2 partner for buy-box scoring — adjacent to existing match models. Not committed until capacity confirmed in live session. If unavailable, buy-box logic is an early engineering hire deliverable.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754880" y="2514600"/>
            <a:ext cx="4160520" cy="960120"/>
          </a:xfrm>
          <a:prstGeom prst="rect">
            <a:avLst/>
          </a:prstGeom>
          <a:solidFill>
            <a:srgbClr val="EFF6FF"/>
          </a:solidFill>
          <a:ln w="6350">
            <a:solidFill>
              <a:srgbClr val="1877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54880" y="2514600"/>
            <a:ext cx="54864" cy="960120"/>
          </a:xfrm>
          <a:prstGeom prst="rect">
            <a:avLst/>
          </a:prstGeom>
          <a:solidFill>
            <a:srgbClr val="1877D9"/>
          </a:solidFill>
          <a:ln w="12700">
            <a:solidFill>
              <a:srgbClr val="1877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19472" y="260604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Growth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035040" y="2624328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1877D9"/>
          </a:solidFill>
          <a:ln w="12700">
            <a:solidFill>
              <a:srgbClr val="1877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35040" y="262432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SPRINT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919472" y="2916936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Funnel instrumentation for the A/B experiment only. One shared sprint with Ben's team.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754880" y="3611880"/>
            <a:ext cx="4160520" cy="960120"/>
          </a:xfrm>
          <a:prstGeom prst="rect">
            <a:avLst/>
          </a:prstGeom>
          <a:solidFill>
            <a:srgbClr val="EFF6FF"/>
          </a:solidFill>
          <a:ln w="6350">
            <a:solidFill>
              <a:srgbClr val="1877D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754880" y="3611880"/>
            <a:ext cx="54864" cy="960120"/>
          </a:xfrm>
          <a:prstGeom prst="rect">
            <a:avLst/>
          </a:prstGeom>
          <a:solidFill>
            <a:srgbClr val="1877D9"/>
          </a:solidFill>
          <a:ln w="12700">
            <a:solidFill>
              <a:srgbClr val="1877D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919472" y="370332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NEW POD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035040" y="3721608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1877D9"/>
          </a:solidFill>
          <a:ln w="12700">
            <a:solidFill>
              <a:srgbClr val="1877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035040" y="37216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919472" y="4014216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Mandate: Offers investor matching + post-submit account layer (cross-product). 1 PM, Month 1. Engineers gated on Phase 1 signal: 15%+ investor response lift OR 3 investor matches in 30 days. Reporting structure: open question for live session.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20040" y="4663440"/>
            <a:ext cx="8503920" cy="274320"/>
          </a:xfrm>
          <a:prstGeom prst="rect">
            <a:avLst/>
          </a:prstGeom>
          <a:solidFill>
            <a:srgbClr val="FEF3EE"/>
          </a:solidFill>
          <a:ln w="6350">
            <a:solidFill>
              <a:srgbClr val="E05A1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7200" y="4681728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requires zero pull from any existing pod — Loveable + dedicated PM only. Engineering gated on signal: 15%+ investor response lift OR 3 investor matches in 30 days. ANVIL capacity and new pod reporting structure are open questions for the live session.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call.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097280" cy="41148"/>
          </a:xfrm>
          <a:prstGeom prst="rect">
            <a:avLst/>
          </a:prstGeom>
          <a:solidFill>
            <a:srgbClr val="1877D9"/>
          </a:solidFill>
          <a:ln w="12700">
            <a:solidFill>
              <a:srgbClr val="1877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1877D9"/>
          </a:solidFill>
          <a:ln w="12700">
            <a:solidFill>
              <a:srgbClr val="1877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 1: Ship the scheduling screen now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1773936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Loveable-executable, requires no tech allocation, and directly fixes the highest-friction point in the current flow. It also creates the first seller account — the foundation for everything else.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063240"/>
            <a:ext cx="411480" cy="4114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063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3063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 2: Build the seller dashboard in parallel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05840" y="3374136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preference module generates the data schema. The LLM turns it into agent briefs. The A/B experiment runs itself. This is the concierge upgrade that makes warm handoffs systematic — not dependent on individual agent quality.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54880" y="1463040"/>
            <a:ext cx="411480" cy="41148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30352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Phase 1 investor intake with Loveable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303520" y="1773936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agent personal-list blast with a structured property package and a platform-owned investor routing layer. No new tech team required for Month 1. Signal within 6–8 weeks.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54880" y="3063240"/>
            <a:ext cx="411480" cy="4114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0" y="3063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03520" y="3063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Phase 2 on Phase 1 signal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303520" y="3374136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pull ANVIL and fund the new pod when Phase 1 shows offer volume improvement. Don't build the matching engine on a hypothesis — build it on evidence.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SESSION AGENDA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I'd want to dig into with you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097280" cy="41148"/>
          </a:xfrm>
          <a:prstGeom prst="rect">
            <a:avLst/>
          </a:prstGeom>
          <a:solidFill>
            <a:srgbClr val="1877D9"/>
          </a:solidFill>
          <a:ln w="12700">
            <a:solidFill>
              <a:srgbClr val="1877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417320"/>
            <a:ext cx="416052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417320"/>
            <a:ext cx="54864" cy="1051560"/>
          </a:xfrm>
          <a:prstGeom prst="rect">
            <a:avLst/>
          </a:prstGeom>
          <a:solidFill>
            <a:srgbClr val="1877D9"/>
          </a:solidFill>
          <a:ln w="12700">
            <a:solidFill>
              <a:srgbClr val="1877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703320" y="1508760"/>
            <a:ext cx="640080" cy="201168"/>
          </a:xfrm>
          <a:prstGeom prst="roundRect">
            <a:avLst>
              <a:gd name="adj" fmla="val 50000"/>
            </a:avLst>
          </a:prstGeom>
          <a:solidFill>
            <a:srgbClr val="1877D9"/>
          </a:solidFill>
          <a:ln w="12700">
            <a:solidFill>
              <a:srgbClr val="1877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03320" y="150876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02920" y="15087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early investor-matching work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180136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owns it, what's been built, what's worked and what hasn't. I want to build on what exists, not past it.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0040" y="2587752"/>
            <a:ext cx="416052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" y="2587752"/>
            <a:ext cx="54864" cy="10515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703320" y="2679192"/>
            <a:ext cx="640080" cy="201168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03320" y="2679192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02920" y="267919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Pressure-test the Phase 1 scope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29718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structured intake + Loveable routing proposal fit the Offers team's actual capacity? What am I missing about current dependencies?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3758184"/>
            <a:ext cx="416052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" y="3758184"/>
            <a:ext cx="54864" cy="10515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03320" y="3849624"/>
            <a:ext cx="640080" cy="201168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703320" y="384962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02920" y="38496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ANVIL capacity and the Phase 2 gate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2920" y="4142232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ANVIL available for Phase 2 buy-box scoring, or does that need to be an early engineering hire? This changes how I'd sequence the pod build.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754880" y="1417320"/>
            <a:ext cx="416052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54880" y="1417320"/>
            <a:ext cx="54864" cy="10515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38160" y="1508760"/>
            <a:ext cx="640080" cy="20116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138160" y="150876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937760" y="15087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pod sequencing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37760" y="180136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this start under Ben's team for Phase 1 and graduate at Phase 2, or does it need dedicated ownership from Month 1?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754880" y="2587752"/>
            <a:ext cx="416052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54880" y="2587752"/>
            <a:ext cx="54864" cy="1051560"/>
          </a:xfrm>
          <a:prstGeom prst="rect">
            <a:avLst/>
          </a:prstGeom>
          <a:solidFill>
            <a:srgbClr val="E05A1E"/>
          </a:solidFill>
          <a:ln w="12700">
            <a:solidFill>
              <a:srgbClr val="E05A1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38160" y="2679192"/>
            <a:ext cx="640080" cy="201168"/>
          </a:xfrm>
          <a:prstGeom prst="roundRect">
            <a:avLst>
              <a:gd name="adj" fmla="val 50000"/>
            </a:avLst>
          </a:prstGeom>
          <a:solidFill>
            <a:srgbClr val="E05A1E"/>
          </a:solidFill>
          <a:ln w="12700">
            <a:solidFill>
              <a:srgbClr val="E05A1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38160" y="2679192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937760" y="267919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been tried and didn't work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937760" y="29718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Clever already tested on Offers that didn't land? That signal is as valuable as what did.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754880" y="3758184"/>
            <a:ext cx="416052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754880" y="3758184"/>
            <a:ext cx="54864" cy="1051560"/>
          </a:xfrm>
          <a:prstGeom prst="rect">
            <a:avLst/>
          </a:prstGeom>
          <a:solidFill>
            <a:srgbClr val="7A92B0"/>
          </a:solidFill>
          <a:ln w="12700">
            <a:solidFill>
              <a:srgbClr val="7A92B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38160" y="3849624"/>
            <a:ext cx="640080" cy="201168"/>
          </a:xfrm>
          <a:prstGeom prst="roundRect">
            <a:avLst>
              <a:gd name="adj" fmla="val 50000"/>
            </a:avLst>
          </a:prstGeom>
          <a:solidFill>
            <a:srgbClr val="7A92B0"/>
          </a:solidFill>
          <a:ln w="12700">
            <a:solidFill>
              <a:srgbClr val="7A92B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138160" y="384962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937760" y="38496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Reactions and open curveballs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937760" y="4142232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am I wrong? What assumptions are off? What's the thing you're not sure I understand yet about how Clever actually works?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Clever Investor Platform — Product &amp; Org Proposal</dc:title>
  <dc:subject>PptxGenJS Presentation</dc:subject>
  <dc:creator>Varun Raghavan</dc:creator>
  <cp:lastModifiedBy>Varun Raghavan</cp:lastModifiedBy>
  <cp:revision>1</cp:revision>
  <dcterms:created xsi:type="dcterms:W3CDTF">2026-03-24T04:49:48Z</dcterms:created>
  <dcterms:modified xsi:type="dcterms:W3CDTF">2026-03-24T04:49:48Z</dcterms:modified>
</cp:coreProperties>
</file>